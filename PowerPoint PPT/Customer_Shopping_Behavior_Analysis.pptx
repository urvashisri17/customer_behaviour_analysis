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embeddedFontLst>
    <p:embeddedFont>
      <p:font typeface="Instrument Sans Medium"/>
      <p:regular r:id="rId15"/>
    </p:embeddedFont>
    <p:embeddedFont>
      <p:font typeface="Instrument Sans Medium"/>
      <p:regular r:id="rId16"/>
    </p:embeddedFont>
    <p:embeddedFont>
      <p:font typeface="Instrument Sans Medium"/>
      <p:regular r:id="rId17"/>
    </p:embeddedFont>
    <p:embeddedFont>
      <p:font typeface="Instrument Sans Medium"/>
      <p:regular r:id="rId18"/>
    </p:embeddedFont>
    <p:embeddedFont>
      <p:font typeface="Inter"/>
      <p:regular r:id="rId19"/>
    </p:embeddedFont>
    <p:embeddedFont>
      <p:font typeface="Inter"/>
      <p:regular r:id="rId20"/>
    </p:embeddedFont>
    <p:embeddedFont>
      <p:font typeface="Inter"/>
      <p:regular r:id="rId21"/>
    </p:embeddedFont>
    <p:embeddedFont>
      <p:font typeface="Inter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font" Target="fonts/font6.fntdata"/><Relationship Id="rId21" Type="http://schemas.openxmlformats.org/officeDocument/2006/relationships/font" Target="fonts/font7.fntdata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68220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780779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Uncovering spending patterns, customer segments, and product preferences from 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3,900 transactions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guide strategic business decisions.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361429"/>
            <a:ext cx="2824237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Dataset at a Glance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74489" y="894383"/>
            <a:ext cx="7794947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dataset reveals critical patterns in customer behavior, revenue drivers, and product performance — let's explore what the data tells us.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74489" y="1186160"/>
            <a:ext cx="7794947" cy="8409"/>
          </a:xfrm>
          <a:prstGeom prst="rect">
            <a:avLst/>
          </a:prstGeom>
          <a:solidFill>
            <a:srgbClr val="C7CDD6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74489" y="1323975"/>
            <a:ext cx="3852490" cy="1159892"/>
          </a:xfrm>
          <a:prstGeom prst="roundRect">
            <a:avLst>
              <a:gd name="adj" fmla="val 1461"/>
            </a:avLst>
          </a:prstGeom>
          <a:solidFill>
            <a:srgbClr val="434348"/>
          </a:solidFill>
          <a:ln/>
        </p:spPr>
      </p:sp>
      <p:sp>
        <p:nvSpPr>
          <p:cNvPr id="6" name="Text 4"/>
          <p:cNvSpPr/>
          <p:nvPr/>
        </p:nvSpPr>
        <p:spPr>
          <a:xfrm>
            <a:off x="787450" y="1436936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Transactions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87450" y="1667396"/>
            <a:ext cx="3626569" cy="487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0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3,900</a:t>
            </a:r>
            <a:endParaRPr lang="en-US" sz="3050" dirty="0"/>
          </a:p>
        </p:txBody>
      </p:sp>
      <p:sp>
        <p:nvSpPr>
          <p:cNvPr id="8" name="Text 6"/>
          <p:cNvSpPr/>
          <p:nvPr/>
        </p:nvSpPr>
        <p:spPr>
          <a:xfrm>
            <a:off x="787450" y="2208535"/>
            <a:ext cx="362656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Rows in dataset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616946" y="1323975"/>
            <a:ext cx="3852490" cy="1159892"/>
          </a:xfrm>
          <a:prstGeom prst="roundRect">
            <a:avLst>
              <a:gd name="adj" fmla="val 1461"/>
            </a:avLst>
          </a:prstGeom>
          <a:solidFill>
            <a:srgbClr val="434348"/>
          </a:solidFill>
          <a:ln/>
        </p:spPr>
      </p:sp>
      <p:sp>
        <p:nvSpPr>
          <p:cNvPr id="10" name="Text 8"/>
          <p:cNvSpPr/>
          <p:nvPr/>
        </p:nvSpPr>
        <p:spPr>
          <a:xfrm>
            <a:off x="4729907" y="1436936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29907" y="1667396"/>
            <a:ext cx="3626569" cy="487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0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18</a:t>
            </a:r>
            <a:endParaRPr lang="en-US" sz="3050" dirty="0"/>
          </a:p>
        </p:txBody>
      </p:sp>
      <p:sp>
        <p:nvSpPr>
          <p:cNvPr id="12" name="Text 10"/>
          <p:cNvSpPr/>
          <p:nvPr/>
        </p:nvSpPr>
        <p:spPr>
          <a:xfrm>
            <a:off x="4729907" y="2208535"/>
            <a:ext cx="362656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Columns analyzed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74489" y="2573834"/>
            <a:ext cx="3852490" cy="1159892"/>
          </a:xfrm>
          <a:prstGeom prst="roundRect">
            <a:avLst>
              <a:gd name="adj" fmla="val 1461"/>
            </a:avLst>
          </a:prstGeom>
          <a:solidFill>
            <a:srgbClr val="434348"/>
          </a:solidFill>
          <a:ln/>
        </p:spPr>
      </p:sp>
      <p:sp>
        <p:nvSpPr>
          <p:cNvPr id="14" name="Text 12"/>
          <p:cNvSpPr/>
          <p:nvPr/>
        </p:nvSpPr>
        <p:spPr>
          <a:xfrm>
            <a:off x="787450" y="2686794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Avg Purchase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87450" y="2917254"/>
            <a:ext cx="3626569" cy="487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0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$59.76</a:t>
            </a:r>
            <a:endParaRPr lang="en-US" sz="3050" dirty="0"/>
          </a:p>
        </p:txBody>
      </p:sp>
      <p:sp>
        <p:nvSpPr>
          <p:cNvPr id="16" name="Text 14"/>
          <p:cNvSpPr/>
          <p:nvPr/>
        </p:nvSpPr>
        <p:spPr>
          <a:xfrm>
            <a:off x="787450" y="3458394"/>
            <a:ext cx="362656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Mean spend per order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616946" y="2573834"/>
            <a:ext cx="3852490" cy="1159892"/>
          </a:xfrm>
          <a:prstGeom prst="roundRect">
            <a:avLst>
              <a:gd name="adj" fmla="val 1461"/>
            </a:avLst>
          </a:prstGeom>
          <a:solidFill>
            <a:srgbClr val="434348"/>
          </a:solidFill>
          <a:ln/>
        </p:spPr>
      </p:sp>
      <p:sp>
        <p:nvSpPr>
          <p:cNvPr id="18" name="Text 16"/>
          <p:cNvSpPr/>
          <p:nvPr/>
        </p:nvSpPr>
        <p:spPr>
          <a:xfrm>
            <a:off x="4729907" y="2686794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Avg Rating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29907" y="2917254"/>
            <a:ext cx="3626569" cy="487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0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3.75</a:t>
            </a:r>
            <a:endParaRPr lang="en-US" sz="3050" dirty="0"/>
          </a:p>
        </p:txBody>
      </p:sp>
      <p:sp>
        <p:nvSpPr>
          <p:cNvPr id="20" name="Text 18"/>
          <p:cNvSpPr/>
          <p:nvPr/>
        </p:nvSpPr>
        <p:spPr>
          <a:xfrm>
            <a:off x="4729907" y="3458394"/>
            <a:ext cx="362656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 of 5 stars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74489" y="3863132"/>
            <a:ext cx="7794947" cy="8409"/>
          </a:xfrm>
          <a:prstGeom prst="rect">
            <a:avLst/>
          </a:prstGeom>
          <a:solidFill>
            <a:srgbClr val="C7CDD6">
              <a:alpha val="5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74489" y="4000946"/>
            <a:ext cx="3852490" cy="781124"/>
          </a:xfrm>
          <a:prstGeom prst="roundRect">
            <a:avLst>
              <a:gd name="adj" fmla="val 2169"/>
            </a:avLst>
          </a:prstGeom>
          <a:solidFill>
            <a:srgbClr val="1F7A8C"/>
          </a:solidFill>
          <a:ln/>
        </p:spPr>
      </p:sp>
      <p:sp>
        <p:nvSpPr>
          <p:cNvPr id="23" name="Text 21"/>
          <p:cNvSpPr/>
          <p:nvPr/>
        </p:nvSpPr>
        <p:spPr>
          <a:xfrm>
            <a:off x="787450" y="4113907"/>
            <a:ext cx="1653183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Customer Demographics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87450" y="4344367"/>
            <a:ext cx="362656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Age, Gender, Location, Subscription Status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616946" y="4000946"/>
            <a:ext cx="3852490" cy="781124"/>
          </a:xfrm>
          <a:prstGeom prst="roundRect">
            <a:avLst>
              <a:gd name="adj" fmla="val 2169"/>
            </a:avLst>
          </a:prstGeom>
          <a:solidFill>
            <a:srgbClr val="FFA44F"/>
          </a:solidFill>
          <a:ln/>
        </p:spPr>
      </p:sp>
      <p:sp>
        <p:nvSpPr>
          <p:cNvPr id="26" name="Text 24"/>
          <p:cNvSpPr/>
          <p:nvPr/>
        </p:nvSpPr>
        <p:spPr>
          <a:xfrm>
            <a:off x="4729907" y="4113907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Purchase Behavior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29907" y="4344367"/>
            <a:ext cx="3626569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Item, Category, Amount, Season, Discount, Frequency, Review Rating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84473"/>
            <a:ext cx="661697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 Pipeline: From Raw Data to Insights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510978"/>
            <a:ext cx="8151763" cy="223487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78791" y="2796933"/>
            <a:ext cx="1231850" cy="441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Load &amp; Explore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3141353" y="2575389"/>
            <a:ext cx="1231850" cy="441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Clean &amp; Standardize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835284" y="2796933"/>
            <a:ext cx="1231850" cy="441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Engineer Features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513530" y="2336200"/>
            <a:ext cx="1231849" cy="441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Load to PostgreSQL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96119" y="3905324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handled data preparation and cleaning; the cleaned DataFrame was loaded into PostgreSQL for structured business analysis.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132" y="347290"/>
            <a:ext cx="4588669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Revenue &amp; Customer Segments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132" y="1019621"/>
            <a:ext cx="3986585" cy="2024211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8046" y="1095821"/>
            <a:ext cx="3986585" cy="1965127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7225978" y="1859459"/>
            <a:ext cx="839242" cy="158725"/>
          </a:xfrm>
          <a:prstGeom prst="roundRect">
            <a:avLst>
              <a:gd name="adj" fmla="val 80653"/>
            </a:avLst>
          </a:prstGeom>
          <a:solidFill>
            <a:srgbClr val="FFFFFF">
              <a:alpha val="20000"/>
            </a:srgbClr>
          </a:solidFill>
          <a:ln w="4763">
            <a:solidFill>
              <a:srgbClr val="010101"/>
            </a:solidFill>
            <a:prstDash val="solid"/>
          </a:ln>
        </p:spPr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6430" y="1893094"/>
            <a:ext cx="91380" cy="9138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419677" y="1879402"/>
            <a:ext cx="616521" cy="118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C7CDD6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Male·67.74%</a:t>
            </a:r>
            <a:endParaRPr lang="en-US" sz="700" dirty="0"/>
          </a:p>
        </p:txBody>
      </p:sp>
      <p:sp>
        <p:nvSpPr>
          <p:cNvPr id="8" name="Text 3"/>
          <p:cNvSpPr/>
          <p:nvPr/>
        </p:nvSpPr>
        <p:spPr>
          <a:xfrm>
            <a:off x="7629004" y="1879402"/>
            <a:ext cx="407194" cy="118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C7CDD6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·67.74%</a:t>
            </a:r>
            <a:endParaRPr lang="en-US" sz="700" dirty="0"/>
          </a:p>
        </p:txBody>
      </p:sp>
      <p:sp>
        <p:nvSpPr>
          <p:cNvPr id="9" name="Text 4"/>
          <p:cNvSpPr/>
          <p:nvPr/>
        </p:nvSpPr>
        <p:spPr>
          <a:xfrm>
            <a:off x="7665541" y="1879402"/>
            <a:ext cx="24557" cy="118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C7CDD6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700" dirty="0"/>
          </a:p>
        </p:txBody>
      </p:sp>
      <p:sp>
        <p:nvSpPr>
          <p:cNvPr id="10" name="Shape 5"/>
          <p:cNvSpPr/>
          <p:nvPr/>
        </p:nvSpPr>
        <p:spPr>
          <a:xfrm>
            <a:off x="7225978" y="2056284"/>
            <a:ext cx="940743" cy="158725"/>
          </a:xfrm>
          <a:prstGeom prst="roundRect">
            <a:avLst>
              <a:gd name="adj" fmla="val 80653"/>
            </a:avLst>
          </a:prstGeom>
          <a:solidFill>
            <a:srgbClr val="FFFFFF">
              <a:alpha val="20000"/>
            </a:srgbClr>
          </a:solidFill>
          <a:ln w="4763">
            <a:solidFill>
              <a:srgbClr val="010101"/>
            </a:solidFill>
            <a:prstDash val="solid"/>
          </a:ln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6430" y="2089919"/>
            <a:ext cx="91380" cy="9138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419677" y="2076227"/>
            <a:ext cx="718021" cy="118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C7CDD6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Female·32.26%</a:t>
            </a:r>
            <a:endParaRPr lang="en-US" sz="700" dirty="0"/>
          </a:p>
        </p:txBody>
      </p:sp>
      <p:sp>
        <p:nvSpPr>
          <p:cNvPr id="13" name="Text 7"/>
          <p:cNvSpPr/>
          <p:nvPr/>
        </p:nvSpPr>
        <p:spPr>
          <a:xfrm>
            <a:off x="7730505" y="2076227"/>
            <a:ext cx="407194" cy="118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C7CDD6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·32.26%</a:t>
            </a:r>
            <a:endParaRPr lang="en-US" sz="700" dirty="0"/>
          </a:p>
        </p:txBody>
      </p:sp>
      <p:sp>
        <p:nvSpPr>
          <p:cNvPr id="14" name="Text 8"/>
          <p:cNvSpPr/>
          <p:nvPr/>
        </p:nvSpPr>
        <p:spPr>
          <a:xfrm>
            <a:off x="7767042" y="2076227"/>
            <a:ext cx="24557" cy="118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C7CDD6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700" dirty="0"/>
          </a:p>
        </p:txBody>
      </p:sp>
      <p:sp>
        <p:nvSpPr>
          <p:cNvPr id="15" name="Shape 9"/>
          <p:cNvSpPr/>
          <p:nvPr/>
        </p:nvSpPr>
        <p:spPr>
          <a:xfrm>
            <a:off x="434132" y="3496121"/>
            <a:ext cx="8275737" cy="485105"/>
          </a:xfrm>
          <a:prstGeom prst="roundRect">
            <a:avLst>
              <a:gd name="adj" fmla="val 3836"/>
            </a:avLst>
          </a:prstGeom>
          <a:solidFill>
            <a:srgbClr val="022349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105" y="3680668"/>
            <a:ext cx="155004" cy="12397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37084" y="3635573"/>
            <a:ext cx="7748811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Male customers generate </a:t>
            </a:r>
            <a:pPr algn="l" indent="0" marL="0">
              <a:lnSpc>
                <a:spcPts val="145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2.1× more revenue</a:t>
            </a:r>
            <a:pPr algn="l"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than female customers — a key segment to understand and engage.</a:t>
            </a:r>
            <a:endParaRPr lang="en-US" sz="950" dirty="0"/>
          </a:p>
        </p:txBody>
      </p:sp>
      <p:sp>
        <p:nvSpPr>
          <p:cNvPr id="18" name="Shape 11"/>
          <p:cNvSpPr/>
          <p:nvPr/>
        </p:nvSpPr>
        <p:spPr>
          <a:xfrm>
            <a:off x="434132" y="4103266"/>
            <a:ext cx="2686199" cy="692944"/>
          </a:xfrm>
          <a:prstGeom prst="roundRect">
            <a:avLst>
              <a:gd name="adj" fmla="val 42963"/>
            </a:avLst>
          </a:prstGeom>
          <a:solidFill>
            <a:srgbClr val="AFCBF8"/>
          </a:solidFill>
          <a:ln/>
        </p:spPr>
      </p:sp>
      <p:sp>
        <p:nvSpPr>
          <p:cNvPr id="19" name="Text 12"/>
          <p:cNvSpPr/>
          <p:nvPr/>
        </p:nvSpPr>
        <p:spPr>
          <a:xfrm>
            <a:off x="558105" y="4227240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Loyal Customers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558105" y="4486201"/>
            <a:ext cx="2438251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3,116 — the dominant segment</a:t>
            </a:r>
            <a:endParaRPr lang="en-US" sz="950" dirty="0"/>
          </a:p>
        </p:txBody>
      </p:sp>
      <p:sp>
        <p:nvSpPr>
          <p:cNvPr id="21" name="Shape 14"/>
          <p:cNvSpPr/>
          <p:nvPr/>
        </p:nvSpPr>
        <p:spPr>
          <a:xfrm>
            <a:off x="3228826" y="4103266"/>
            <a:ext cx="2686273" cy="692944"/>
          </a:xfrm>
          <a:prstGeom prst="roundRect">
            <a:avLst>
              <a:gd name="adj" fmla="val 42963"/>
            </a:avLst>
          </a:prstGeom>
          <a:solidFill>
            <a:srgbClr val="F2F2F2"/>
          </a:solidFill>
          <a:ln/>
        </p:spPr>
      </p:sp>
      <p:sp>
        <p:nvSpPr>
          <p:cNvPr id="22" name="Text 15"/>
          <p:cNvSpPr/>
          <p:nvPr/>
        </p:nvSpPr>
        <p:spPr>
          <a:xfrm>
            <a:off x="3352800" y="4227240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Returning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3352800" y="4486201"/>
            <a:ext cx="2438326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701 customers</a:t>
            </a:r>
            <a:endParaRPr lang="en-US" sz="950" dirty="0"/>
          </a:p>
        </p:txBody>
      </p:sp>
      <p:sp>
        <p:nvSpPr>
          <p:cNvPr id="24" name="Shape 17"/>
          <p:cNvSpPr/>
          <p:nvPr/>
        </p:nvSpPr>
        <p:spPr>
          <a:xfrm>
            <a:off x="6023595" y="4103266"/>
            <a:ext cx="2686199" cy="692944"/>
          </a:xfrm>
          <a:prstGeom prst="roundRect">
            <a:avLst>
              <a:gd name="adj" fmla="val 42963"/>
            </a:avLst>
          </a:prstGeom>
          <a:solidFill>
            <a:srgbClr val="AEE4BD"/>
          </a:solidFill>
          <a:ln/>
        </p:spPr>
      </p:sp>
      <p:sp>
        <p:nvSpPr>
          <p:cNvPr id="25" name="Text 18"/>
          <p:cNvSpPr/>
          <p:nvPr/>
        </p:nvSpPr>
        <p:spPr>
          <a:xfrm>
            <a:off x="6147569" y="4227240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New Customers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6147569" y="4486201"/>
            <a:ext cx="2438251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83 — growth opportunity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91642"/>
            <a:ext cx="550820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Product &amp; Category Performance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806699"/>
            <a:ext cx="537716" cy="102840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4763">
            <a:solidFill>
              <a:srgbClr val="010101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9456" y="1829544"/>
            <a:ext cx="57150" cy="571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5656" y="1820987"/>
            <a:ext cx="394841" cy="74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"/>
              </a:lnSpc>
              <a:buNone/>
            </a:pPr>
            <a:r>
              <a:rPr lang="en-US" sz="450" dirty="0">
                <a:solidFill>
                  <a:srgbClr val="C7CDD6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Revenue (USD)</a:t>
            </a:r>
            <a:endParaRPr lang="en-US" sz="450" dirty="0"/>
          </a:p>
        </p:txBody>
      </p:sp>
      <p:sp>
        <p:nvSpPr>
          <p:cNvPr id="6" name="Shape 3"/>
          <p:cNvSpPr/>
          <p:nvPr/>
        </p:nvSpPr>
        <p:spPr>
          <a:xfrm>
            <a:off x="1071935" y="1806699"/>
            <a:ext cx="457498" cy="102840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4763">
            <a:solidFill>
              <a:srgbClr val="010101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272" y="1829544"/>
            <a:ext cx="57150" cy="571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81472" y="1820987"/>
            <a:ext cx="314623" cy="74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"/>
              </a:lnSpc>
              <a:buNone/>
            </a:pPr>
            <a:r>
              <a:rPr lang="en-US" sz="450" dirty="0">
                <a:solidFill>
                  <a:srgbClr val="C7CDD6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Sales Count</a:t>
            </a:r>
            <a:endParaRPr lang="en-US" sz="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957164"/>
            <a:ext cx="3902943" cy="216091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749701" y="1788988"/>
            <a:ext cx="234806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Top 3 Products per Category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749701" y="2152204"/>
            <a:ext cx="390294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Clothing:</a:t>
            </a:r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Blouse, Pants, Shirt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Accessories:</a:t>
            </a:r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Jewelry, Sunglasses, Belt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Footwear:</a:t>
            </a:r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Sandals, Shoes, Sneakers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Outerwear:</a:t>
            </a:r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Jacket, Coat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4749701" y="3335685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Clothing and Accessories dominate — 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~70% of total revenue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5162" y="403027"/>
            <a:ext cx="5967710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6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Subscription, Discounts &amp; Age Insights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5162" y="1145307"/>
            <a:ext cx="4126706" cy="347937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80322" y="1129754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Subscription Impact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080322" y="1462013"/>
            <a:ext cx="3603203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Subscribers: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27% of customers generate </a:t>
            </a:r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$62,645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revenue.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80322" y="1986037"/>
            <a:ext cx="3603203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Non-subscribers: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73% of customers generate </a:t>
            </a:r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$170,436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revenue.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80322" y="2510061"/>
            <a:ext cx="3603203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shows a clear conversion opportunity among non-subscribers.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080322" y="3046586"/>
            <a:ext cx="2383631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Discount-Dependent Products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80322" y="3378845"/>
            <a:ext cx="3603203" cy="1204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Hat — 50% discount rate</a:t>
            </a:r>
            <a:endParaRPr lang="en-US" sz="1000" dirty="0"/>
          </a:p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Sneakers — 49%</a:t>
            </a:r>
            <a:endParaRPr lang="en-US" sz="1000" dirty="0"/>
          </a:p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Coat — 49%</a:t>
            </a:r>
            <a:endParaRPr lang="en-US" sz="1000" dirty="0"/>
          </a:p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Sweater — 48%</a:t>
            </a:r>
            <a:endParaRPr lang="en-US" sz="1000" dirty="0"/>
          </a:p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Pants — 47%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91642"/>
            <a:ext cx="671408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Top-Rated Products &amp; Shipping Behavior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806699"/>
            <a:ext cx="3902943" cy="23083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788988"/>
            <a:ext cx="222870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Shipping Type Comparison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2152204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Express shipping averages 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$60.48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vs. Standard at 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$58.46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 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$2.02 uplift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per order for faster delivery.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749701" y="2765301"/>
            <a:ext cx="3902943" cy="1056010"/>
          </a:xfrm>
          <a:prstGeom prst="roundRect">
            <a:avLst>
              <a:gd name="adj" fmla="val 2014"/>
            </a:avLst>
          </a:prstGeom>
          <a:solidFill>
            <a:srgbClr val="022349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460" y="2980358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10398" y="2942481"/>
            <a:ext cx="330048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High-rated products like Gloves and Sandals should be featured prominently in marketing to drive conversion.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643" y="362694"/>
            <a:ext cx="3895130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3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Strategic Recommendations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643" y="923999"/>
            <a:ext cx="8100640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Priorities to grow revenue, deepen loyalty, and improve performance.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21643" y="1302172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Revenue Growth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21643" y="1594917"/>
            <a:ext cx="2481337" cy="1489695"/>
          </a:xfrm>
          <a:prstGeom prst="roundRect">
            <a:avLst>
              <a:gd name="adj" fmla="val 4604"/>
            </a:avLst>
          </a:prstGeom>
          <a:solidFill>
            <a:srgbClr val="242429"/>
          </a:solidFill>
          <a:ln w="14288">
            <a:solidFill>
              <a:srgbClr val="5C5C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7355" y="1594917"/>
            <a:ext cx="57150" cy="1489695"/>
          </a:xfrm>
          <a:prstGeom prst="roundRect">
            <a:avLst>
              <a:gd name="adj" fmla="val 30814"/>
            </a:avLst>
          </a:prstGeom>
          <a:solidFill>
            <a:srgbClr val="AD6767"/>
          </a:solidFill>
          <a:ln/>
        </p:spPr>
      </p:sp>
      <p:sp>
        <p:nvSpPr>
          <p:cNvPr id="7" name="Text 5"/>
          <p:cNvSpPr/>
          <p:nvPr/>
        </p:nvSpPr>
        <p:spPr>
          <a:xfrm>
            <a:off x="696144" y="1726555"/>
            <a:ext cx="1670893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Prioritize Top Categories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96144" y="2007171"/>
            <a:ext cx="2175197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on </a:t>
            </a:r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Clothing &amp; Accessories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they drive ~70% of revenue.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96144" y="2437954"/>
            <a:ext cx="2175197" cy="515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Impact: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Concentrates spend where demand is strongest.</a:t>
            </a:r>
            <a:endParaRPr lang="en-US" sz="9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Maximizes near-term sales.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21643" y="3181796"/>
            <a:ext cx="2481337" cy="1489695"/>
          </a:xfrm>
          <a:prstGeom prst="roundRect">
            <a:avLst>
              <a:gd name="adj" fmla="val 4604"/>
            </a:avLst>
          </a:prstGeom>
          <a:solidFill>
            <a:srgbClr val="242429"/>
          </a:solidFill>
          <a:ln w="14288">
            <a:solidFill>
              <a:srgbClr val="5C5C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7355" y="3181796"/>
            <a:ext cx="57150" cy="1489695"/>
          </a:xfrm>
          <a:prstGeom prst="roundRect">
            <a:avLst>
              <a:gd name="adj" fmla="val 30814"/>
            </a:avLst>
          </a:prstGeom>
          <a:solidFill>
            <a:srgbClr val="AD6767"/>
          </a:solidFill>
          <a:ln/>
        </p:spPr>
      </p:sp>
      <p:sp>
        <p:nvSpPr>
          <p:cNvPr id="12" name="Text 10"/>
          <p:cNvSpPr/>
          <p:nvPr/>
        </p:nvSpPr>
        <p:spPr>
          <a:xfrm>
            <a:off x="696144" y="3313435"/>
            <a:ext cx="1812429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Promote Express Shipping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96144" y="3594050"/>
            <a:ext cx="2175197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Push Express to lift average order value.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6144" y="4024833"/>
            <a:ext cx="2175197" cy="515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Impact: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Encourages premium fulfillment.</a:t>
            </a:r>
            <a:endParaRPr lang="en-US" sz="9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Drives higher order value.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94087" y="1302172"/>
            <a:ext cx="159960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Customer Engagement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94087" y="1594917"/>
            <a:ext cx="2565202" cy="1318022"/>
          </a:xfrm>
          <a:prstGeom prst="roundRect">
            <a:avLst>
              <a:gd name="adj" fmla="val 5203"/>
            </a:avLst>
          </a:prstGeom>
          <a:solidFill>
            <a:srgbClr val="242429"/>
          </a:solidFill>
          <a:ln w="14288">
            <a:solidFill>
              <a:srgbClr val="5C5C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79800" y="1594917"/>
            <a:ext cx="57150" cy="1318022"/>
          </a:xfrm>
          <a:prstGeom prst="roundRect">
            <a:avLst>
              <a:gd name="adj" fmla="val 30814"/>
            </a:avLst>
          </a:prstGeom>
          <a:solidFill>
            <a:srgbClr val="AD6767"/>
          </a:solidFill>
          <a:ln/>
        </p:spPr>
      </p:sp>
      <p:sp>
        <p:nvSpPr>
          <p:cNvPr id="18" name="Text 16"/>
          <p:cNvSpPr/>
          <p:nvPr/>
        </p:nvSpPr>
        <p:spPr>
          <a:xfrm>
            <a:off x="3468588" y="1726555"/>
            <a:ext cx="156016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Convert Repeat Buyers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468588" y="2007171"/>
            <a:ext cx="2259062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958 repeat buyers are unsubscribed — convert them to subscribers.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68588" y="2437954"/>
            <a:ext cx="2259062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Impact: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Builds recurring revenue.</a:t>
            </a:r>
            <a:endParaRPr lang="en-US" sz="9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Improves retention.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94087" y="3010123"/>
            <a:ext cx="2565202" cy="1318022"/>
          </a:xfrm>
          <a:prstGeom prst="roundRect">
            <a:avLst>
              <a:gd name="adj" fmla="val 5203"/>
            </a:avLst>
          </a:prstGeom>
          <a:solidFill>
            <a:srgbClr val="242429"/>
          </a:solidFill>
          <a:ln w="14288">
            <a:solidFill>
              <a:srgbClr val="5C5C6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79800" y="3010123"/>
            <a:ext cx="57150" cy="1318022"/>
          </a:xfrm>
          <a:prstGeom prst="roundRect">
            <a:avLst>
              <a:gd name="adj" fmla="val 30814"/>
            </a:avLst>
          </a:prstGeom>
          <a:solidFill>
            <a:srgbClr val="AD6767"/>
          </a:solidFill>
          <a:ln/>
        </p:spPr>
      </p:sp>
      <p:sp>
        <p:nvSpPr>
          <p:cNvPr id="23" name="Text 21"/>
          <p:cNvSpPr/>
          <p:nvPr/>
        </p:nvSpPr>
        <p:spPr>
          <a:xfrm>
            <a:off x="3468588" y="3141762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Target Young Adults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468588" y="3422377"/>
            <a:ext cx="2259062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segment generates the highest revenue.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468588" y="3853160"/>
            <a:ext cx="2259062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Impact: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Improves relevance.</a:t>
            </a:r>
            <a:endParaRPr lang="en-US" sz="9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Boosts conversion and share of wallet.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150397" y="1302172"/>
            <a:ext cx="1620887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Conversion &amp; Efficiency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150397" y="1594917"/>
            <a:ext cx="2481337" cy="1318022"/>
          </a:xfrm>
          <a:prstGeom prst="roundRect">
            <a:avLst>
              <a:gd name="adj" fmla="val 5203"/>
            </a:avLst>
          </a:prstGeom>
          <a:solidFill>
            <a:srgbClr val="242429"/>
          </a:solidFill>
          <a:ln w="14288">
            <a:solidFill>
              <a:srgbClr val="5C5C6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36109" y="1594917"/>
            <a:ext cx="57150" cy="1318022"/>
          </a:xfrm>
          <a:prstGeom prst="roundRect">
            <a:avLst>
              <a:gd name="adj" fmla="val 30814"/>
            </a:avLst>
          </a:prstGeom>
          <a:solidFill>
            <a:srgbClr val="AD6767"/>
          </a:solidFill>
          <a:ln/>
        </p:spPr>
      </p:sp>
      <p:sp>
        <p:nvSpPr>
          <p:cNvPr id="29" name="Text 27"/>
          <p:cNvSpPr/>
          <p:nvPr/>
        </p:nvSpPr>
        <p:spPr>
          <a:xfrm>
            <a:off x="6324898" y="1726555"/>
            <a:ext cx="1629668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Use Selective Discounts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324898" y="2007171"/>
            <a:ext cx="2175197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 discounts to </a:t>
            </a:r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Hat, Sneakers,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Coat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only.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324898" y="2437954"/>
            <a:ext cx="2175197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Impact: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Protects margin.</a:t>
            </a:r>
            <a:endParaRPr lang="en-US" sz="9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Targets inventory more effectively.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150397" y="3010123"/>
            <a:ext cx="2481337" cy="1318022"/>
          </a:xfrm>
          <a:prstGeom prst="roundRect">
            <a:avLst>
              <a:gd name="adj" fmla="val 5203"/>
            </a:avLst>
          </a:prstGeom>
          <a:solidFill>
            <a:srgbClr val="242429"/>
          </a:solidFill>
          <a:ln w="14288">
            <a:solidFill>
              <a:srgbClr val="5C5C6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36109" y="3010123"/>
            <a:ext cx="57150" cy="1318022"/>
          </a:xfrm>
          <a:prstGeom prst="roundRect">
            <a:avLst>
              <a:gd name="adj" fmla="val 30814"/>
            </a:avLst>
          </a:prstGeom>
          <a:solidFill>
            <a:srgbClr val="AD6767"/>
          </a:solidFill>
          <a:ln/>
        </p:spPr>
      </p:sp>
      <p:sp>
        <p:nvSpPr>
          <p:cNvPr id="34" name="Text 32"/>
          <p:cNvSpPr/>
          <p:nvPr/>
        </p:nvSpPr>
        <p:spPr>
          <a:xfrm>
            <a:off x="6324898" y="3141762"/>
            <a:ext cx="1751707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Leverage Product Ratings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324898" y="3422377"/>
            <a:ext cx="2175197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Promote top-rated items and review low performers.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324898" y="3853160"/>
            <a:ext cx="2175197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Impact: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Supports conversion.</a:t>
            </a:r>
            <a:endParaRPr lang="en-US" sz="9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Reduces friction from weak reviews.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2026-05-06T15:18:06Z</dcterms:created>
  <dcterms:modified xsi:type="dcterms:W3CDTF">2026-05-06T15:18:06Z</dcterms:modified>
</cp:coreProperties>
</file>